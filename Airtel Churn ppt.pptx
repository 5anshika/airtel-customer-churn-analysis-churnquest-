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Montserrat Bold" charset="1" panose="00000800000000000000"/>
      <p:regular r:id="rId19"/>
    </p:embeddedFont>
    <p:embeddedFont>
      <p:font typeface="Glacial Indifference" charset="1" panose="00000000000000000000"/>
      <p:regular r:id="rId20"/>
    </p:embeddedFont>
    <p:embeddedFont>
      <p:font typeface="Cardo" charset="1" panose="02020600000000000000"/>
      <p:regular r:id="rId21"/>
    </p:embeddedFont>
    <p:embeddedFont>
      <p:font typeface="Montserrat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6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151" r="0" b="-9151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213711" y="1759048"/>
            <a:ext cx="20715422" cy="6803785"/>
            <a:chOff x="0" y="0"/>
            <a:chExt cx="5455914" cy="179194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55913" cy="1791944"/>
            </a:xfrm>
            <a:custGeom>
              <a:avLst/>
              <a:gdLst/>
              <a:ahLst/>
              <a:cxnLst/>
              <a:rect r="r" b="b" t="t" l="l"/>
              <a:pathLst>
                <a:path h="1791944" w="5455913">
                  <a:moveTo>
                    <a:pt x="0" y="0"/>
                  </a:moveTo>
                  <a:lnTo>
                    <a:pt x="5455913" y="0"/>
                  </a:lnTo>
                  <a:lnTo>
                    <a:pt x="5455913" y="1791944"/>
                  </a:lnTo>
                  <a:lnTo>
                    <a:pt x="0" y="1791944"/>
                  </a:lnTo>
                  <a:close/>
                </a:path>
              </a:pathLst>
            </a:custGeom>
            <a:solidFill>
              <a:srgbClr val="DC0E20">
                <a:alpha val="71765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55914" cy="18300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816963" y="3841859"/>
            <a:ext cx="14654073" cy="1823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980"/>
              </a:lnSpc>
            </a:pPr>
            <a:r>
              <a:rPr lang="en-US" sz="10700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CUSTOMER CHURN ANALYSIS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565881" y="3635079"/>
            <a:ext cx="3156238" cy="43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2"/>
              </a:lnSpc>
            </a:pPr>
            <a:r>
              <a:rPr lang="en-US" sz="255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Airtel Company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0745" y="5570311"/>
            <a:ext cx="9946509" cy="1669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99"/>
              </a:lnSpc>
            </a:pPr>
            <a:r>
              <a:rPr lang="en-US" sz="4785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UNCOVERING KEY INSIGHTS TO BOOST RETENTION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546924" y="7547908"/>
            <a:ext cx="5194153" cy="620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9"/>
              </a:lnSpc>
            </a:pPr>
            <a:r>
              <a:rPr lang="en-US" sz="3685">
                <a:solidFill>
                  <a:srgbClr val="FFFFFF"/>
                </a:solidFill>
                <a:latin typeface="Cardo"/>
                <a:ea typeface="Cardo"/>
                <a:cs typeface="Cardo"/>
                <a:sym typeface="Cardo"/>
              </a:rPr>
              <a:t>ANSHIKA GUPTA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360" y="6907455"/>
            <a:ext cx="7730640" cy="2029293"/>
          </a:xfrm>
          <a:custGeom>
            <a:avLst/>
            <a:gdLst/>
            <a:ahLst/>
            <a:cxnLst/>
            <a:rect r="r" b="b" t="t" l="l"/>
            <a:pathLst>
              <a:path h="2029293" w="7730640">
                <a:moveTo>
                  <a:pt x="0" y="0"/>
                </a:moveTo>
                <a:lnTo>
                  <a:pt x="7730640" y="0"/>
                </a:lnTo>
                <a:lnTo>
                  <a:pt x="7730640" y="2029293"/>
                </a:lnTo>
                <a:lnTo>
                  <a:pt x="0" y="2029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1964919"/>
            <a:ext cx="5972326" cy="6357161"/>
            <a:chOff x="0" y="0"/>
            <a:chExt cx="1027046" cy="1093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7046" cy="1093225"/>
            </a:xfrm>
            <a:custGeom>
              <a:avLst/>
              <a:gdLst/>
              <a:ahLst/>
              <a:cxnLst/>
              <a:rect r="r" b="b" t="t" l="l"/>
              <a:pathLst>
                <a:path h="1093225" w="1027046">
                  <a:moveTo>
                    <a:pt x="0" y="0"/>
                  </a:moveTo>
                  <a:lnTo>
                    <a:pt x="1027046" y="0"/>
                  </a:lnTo>
                  <a:lnTo>
                    <a:pt x="1027046" y="1093225"/>
                  </a:lnTo>
                  <a:lnTo>
                    <a:pt x="0" y="1093225"/>
                  </a:lnTo>
                  <a:close/>
                </a:path>
              </a:pathLst>
            </a:custGeom>
            <a:blipFill>
              <a:blip r:embed="rId4"/>
              <a:stretch>
                <a:fillRect l="-34450" t="0" r="-34450" b="-591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623398" y="-936593"/>
            <a:ext cx="13749019" cy="12160187"/>
            <a:chOff x="0" y="0"/>
            <a:chExt cx="3621141" cy="3202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1141" cy="3202683"/>
            </a:xfrm>
            <a:custGeom>
              <a:avLst/>
              <a:gdLst/>
              <a:ahLst/>
              <a:cxnLst/>
              <a:rect r="r" b="b" t="t" l="l"/>
              <a:pathLst>
                <a:path h="3202683" w="3621141">
                  <a:moveTo>
                    <a:pt x="0" y="0"/>
                  </a:moveTo>
                  <a:lnTo>
                    <a:pt x="3621141" y="0"/>
                  </a:lnTo>
                  <a:lnTo>
                    <a:pt x="3621141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1141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774580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3"/>
                </a:lnTo>
                <a:lnTo>
                  <a:pt x="0" y="9912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75200" y="876187"/>
            <a:ext cx="6825696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275200" y="1926819"/>
            <a:ext cx="10984100" cy="17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09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Airtel, a leading telecommunications company, is facing a concerning rise in customer churn. This trend poses risks to revenue and market share, prompting management to seek actionable insights. As a data analyst, your mission is to explore customer data, uncover churn patterns, and provide data-driven recommendations to enhance retention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75200" y="4440137"/>
            <a:ext cx="8825163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STATMENT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75200" y="5491697"/>
            <a:ext cx="10984100" cy="179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09"/>
              </a:lnSpc>
            </a:pP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Airtel has observed a rising trend in customer churn, posing a serious risk to revenue growth and market share.</a:t>
            </a:r>
          </a:p>
          <a:p>
            <a:pPr algn="just" marL="0" indent="0" lvl="0">
              <a:lnSpc>
                <a:spcPts val="2909"/>
              </a:lnSpc>
              <a:spcBef>
                <a:spcPct val="0"/>
              </a:spcBef>
            </a:pPr>
            <a:r>
              <a:rPr lang="en-US" sz="20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The objective of this analysis is to identify the key behavioral, pricing, and service-related factors contributing to customer churn, enabling Airtel to design targeted retention strategies.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275200" y="7864951"/>
            <a:ext cx="10984100" cy="13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09"/>
              </a:lnSpc>
            </a:pPr>
            <a:r>
              <a:rPr lang="en-US" sz="257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Source: </a:t>
            </a:r>
          </a:p>
          <a:p>
            <a:pPr algn="just" marL="0" indent="0" lvl="0">
              <a:lnSpc>
                <a:spcPts val="3609"/>
              </a:lnSpc>
              <a:spcBef>
                <a:spcPct val="0"/>
              </a:spcBef>
            </a:pPr>
            <a:r>
              <a:rPr lang="en-US" sz="257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https://www.kaggle.com/competitions/customer-churn-prediction-2020/data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13360" y="6907455"/>
            <a:ext cx="7730640" cy="2029293"/>
          </a:xfrm>
          <a:custGeom>
            <a:avLst/>
            <a:gdLst/>
            <a:ahLst/>
            <a:cxnLst/>
            <a:rect r="r" b="b" t="t" l="l"/>
            <a:pathLst>
              <a:path h="2029293" w="7730640">
                <a:moveTo>
                  <a:pt x="0" y="0"/>
                </a:moveTo>
                <a:lnTo>
                  <a:pt x="7730640" y="0"/>
                </a:lnTo>
                <a:lnTo>
                  <a:pt x="7730640" y="2029293"/>
                </a:lnTo>
                <a:lnTo>
                  <a:pt x="0" y="2029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749019" y="1916271"/>
            <a:ext cx="4250573" cy="6357161"/>
            <a:chOff x="0" y="0"/>
            <a:chExt cx="730960" cy="10932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0960" cy="1093225"/>
            </a:xfrm>
            <a:custGeom>
              <a:avLst/>
              <a:gdLst/>
              <a:ahLst/>
              <a:cxnLst/>
              <a:rect r="r" b="b" t="t" l="l"/>
              <a:pathLst>
                <a:path h="1093225" w="730960">
                  <a:moveTo>
                    <a:pt x="0" y="0"/>
                  </a:moveTo>
                  <a:lnTo>
                    <a:pt x="730960" y="0"/>
                  </a:lnTo>
                  <a:lnTo>
                    <a:pt x="730960" y="1093225"/>
                  </a:lnTo>
                  <a:lnTo>
                    <a:pt x="0" y="1093225"/>
                  </a:lnTo>
                  <a:close/>
                </a:path>
              </a:pathLst>
            </a:custGeom>
            <a:blipFill>
              <a:blip r:embed="rId4"/>
              <a:stretch>
                <a:fillRect l="-49835" t="0" r="-49835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-559882"/>
            <a:ext cx="13749019" cy="12160187"/>
            <a:chOff x="0" y="0"/>
            <a:chExt cx="3621141" cy="3202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621141" cy="3202683"/>
            </a:xfrm>
            <a:custGeom>
              <a:avLst/>
              <a:gdLst/>
              <a:ahLst/>
              <a:cxnLst/>
              <a:rect r="r" b="b" t="t" l="l"/>
              <a:pathLst>
                <a:path h="3202683" w="3621141">
                  <a:moveTo>
                    <a:pt x="0" y="0"/>
                  </a:moveTo>
                  <a:lnTo>
                    <a:pt x="3621141" y="0"/>
                  </a:lnTo>
                  <a:lnTo>
                    <a:pt x="3621141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621141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533079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6098" y="1745008"/>
            <a:ext cx="8970052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BUSINESS OBJECTIVE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6098" y="2788654"/>
            <a:ext cx="11758265" cy="1928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80249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Identify drivers of customer churn</a:t>
            </a:r>
          </a:p>
          <a:p>
            <a:pPr algn="just" marL="480249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Understand usage, pricing, and service behavior of churned customers</a:t>
            </a:r>
          </a:p>
          <a:p>
            <a:pPr algn="just" marL="480249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Detect early warning signals of churn</a:t>
            </a:r>
          </a:p>
          <a:p>
            <a:pPr algn="just" marL="480249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Provide actionable, data-driven recommendations to improve retention</a:t>
            </a:r>
          </a:p>
          <a:p>
            <a:pPr algn="just" marL="0" indent="0" lvl="0">
              <a:lnSpc>
                <a:spcPts val="311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866098" y="5539261"/>
            <a:ext cx="8825163" cy="889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20"/>
              </a:lnSpc>
            </a:pPr>
            <a:r>
              <a:rPr lang="en-US" sz="6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6098" y="6381271"/>
            <a:ext cx="11758265" cy="3496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14"/>
              </a:lnSpc>
            </a:pP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 Customers: 4,250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includes: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Call usage (day, evening, night, international)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Plans (international, voice mail)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Customer service calls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Charges &amp; minutes</a:t>
            </a:r>
          </a:p>
          <a:p>
            <a:pPr algn="just" marL="480250" indent="-240125" lvl="1">
              <a:lnSpc>
                <a:spcPts val="3114"/>
              </a:lnSpc>
              <a:buFont typeface="Arial"/>
              <a:buChar char="•"/>
            </a:pPr>
            <a:r>
              <a:rPr lang="en-US" sz="222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Tenure and region</a:t>
            </a:r>
          </a:p>
          <a:p>
            <a:pPr algn="just" marL="0" indent="0" lvl="0">
              <a:lnSpc>
                <a:spcPts val="311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7221" y="1047750"/>
            <a:ext cx="16792476" cy="3208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58"/>
              </a:lnSpc>
            </a:pPr>
            <a:r>
              <a:rPr lang="en-US" sz="748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KEY ANALYSIS QUESTIONS &amp; INSIGHTS (SOLUTION GUIDE)</a:t>
            </a:r>
          </a:p>
          <a:p>
            <a:pPr algn="ctr" marL="0" indent="0" lvl="0">
              <a:lnSpc>
                <a:spcPts val="7822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44770" y="5863710"/>
            <a:ext cx="4583144" cy="2789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480" indent="-248240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customers:</a:t>
            </a: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4,250</a:t>
            </a:r>
          </a:p>
          <a:p>
            <a:pPr algn="just" marL="496480" indent="-248240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Churned customers:</a:t>
            </a: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598</a:t>
            </a:r>
          </a:p>
          <a:p>
            <a:pPr algn="just" marL="496480" indent="-248240" lvl="1">
              <a:lnSpc>
                <a:spcPts val="3219"/>
              </a:lnSpc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 rate: </a:t>
            </a:r>
            <a:r>
              <a:rPr lang="en-US" sz="22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14.1%</a:t>
            </a:r>
          </a:p>
          <a:p>
            <a:pPr algn="just">
              <a:lnSpc>
                <a:spcPts val="3219"/>
              </a:lnSpc>
            </a:pPr>
          </a:p>
          <a:p>
            <a:pPr algn="just">
              <a:lnSpc>
                <a:spcPts val="3219"/>
              </a:lnSpc>
            </a:pPr>
            <a:r>
              <a:rPr lang="en-US" sz="22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 in every 7 customers leaves Airtel.</a:t>
            </a:r>
          </a:p>
          <a:p>
            <a:pPr algn="just" marL="0" indent="0" lvl="0">
              <a:lnSpc>
                <a:spcPts val="321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544770" y="3845936"/>
            <a:ext cx="4584373" cy="1297564"/>
            <a:chOff x="0" y="0"/>
            <a:chExt cx="1207407" cy="34174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183434" y="3987614"/>
            <a:ext cx="5307044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OVERALL CHURN OVERVIEW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51813" y="5863710"/>
            <a:ext cx="4584373" cy="39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Correlation between tenure and churn = 0</a:t>
            </a:r>
          </a:p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 </a:t>
            </a: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Loyalty over time alone does not guarantee retention.</a:t>
            </a:r>
          </a:p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Exception: </a:t>
            </a: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Very long-tenured customers (18+ years) show a churn spike, likely due to legacy plans.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2158857" y="5863710"/>
            <a:ext cx="4584373" cy="3589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 Call Volume (6+):</a:t>
            </a: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64% churn rate. </a:t>
            </a:r>
          </a:p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Low Call Volume (0–2):</a:t>
            </a: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11% churn rate. </a:t>
            </a:r>
          </a:p>
          <a:p>
            <a:pPr algn="just">
              <a:lnSpc>
                <a:spcPts val="3220"/>
              </a:lnSpc>
            </a:pPr>
            <a:r>
              <a:rPr lang="en-US" sz="2300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23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Repeated unresolved issues dramatically increase churn risk.</a:t>
            </a:r>
          </a:p>
          <a:p>
            <a:pPr algn="just" marL="0" indent="0" lvl="0">
              <a:lnSpc>
                <a:spcPts val="322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Early-warning threshold = 4-5 service calls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6851813" y="3850325"/>
            <a:ext cx="4584373" cy="1297564"/>
            <a:chOff x="0" y="0"/>
            <a:chExt cx="1207407" cy="34174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58857" y="3854713"/>
            <a:ext cx="4584373" cy="1297564"/>
            <a:chOff x="0" y="0"/>
            <a:chExt cx="1207407" cy="3417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51813" y="3992003"/>
            <a:ext cx="4584373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ACCOUNT LENGTH VS CHURN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160087" y="4049915"/>
            <a:ext cx="4687919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1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CUSTOMER SERVICE CALLS &amp; CHURN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1344" y="3611054"/>
            <a:ext cx="4583144" cy="542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Plan: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42% 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Without Plan: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11%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international plan itself is a major churn driver — not usage volume.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Likely causes: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costs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Billing confusion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Poor value perception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01344" y="1785175"/>
            <a:ext cx="4584373" cy="1297564"/>
            <a:chOff x="0" y="0"/>
            <a:chExt cx="1207407" cy="341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1467" y="1922465"/>
            <a:ext cx="5002897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INTERNATIONAL PLAN IMPACT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1813" y="3611054"/>
            <a:ext cx="4584373" cy="567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Average international minutes and charges are </a:t>
            </a: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similar </a:t>
            </a: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for churned and retained users.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charges increase churn </a:t>
            </a: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slightly</a:t>
            </a: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but not strongly on their own.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499"/>
              </a:lnSpc>
            </a:pP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Pricing dissatisfaction combined with poor service experience amplifies churn.</a:t>
            </a:r>
          </a:p>
          <a:p>
            <a:pPr algn="just" marL="0" indent="0" lvl="0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58857" y="3601529"/>
            <a:ext cx="4687919" cy="5576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9377" indent="-264688" lvl="1">
              <a:lnSpc>
                <a:spcPts val="3432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Churned customers use </a:t>
            </a:r>
            <a:r>
              <a:rPr lang="en-US" b="true" sz="245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19% </a:t>
            </a: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more daytime minutes.</a:t>
            </a:r>
          </a:p>
          <a:p>
            <a:pPr algn="just">
              <a:lnSpc>
                <a:spcPts val="3432"/>
              </a:lnSpc>
            </a:pPr>
          </a:p>
          <a:p>
            <a:pPr algn="just">
              <a:lnSpc>
                <a:spcPts val="3432"/>
              </a:lnSpc>
            </a:pPr>
            <a:r>
              <a:rPr lang="en-US" sz="245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Higher daytime usage → higher charges → bill shock</a:t>
            </a:r>
          </a:p>
          <a:p>
            <a:pPr algn="just">
              <a:lnSpc>
                <a:spcPts val="3432"/>
              </a:lnSpc>
            </a:pPr>
          </a:p>
          <a:p>
            <a:pPr algn="just">
              <a:lnSpc>
                <a:spcPts val="3572"/>
              </a:lnSpc>
            </a:pPr>
            <a:r>
              <a:rPr lang="en-US" sz="255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432"/>
              </a:lnSpc>
            </a:pP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Heavy daytime users are high-value but high-risk customers.</a:t>
            </a:r>
          </a:p>
          <a:p>
            <a:pPr algn="just">
              <a:lnSpc>
                <a:spcPts val="3432"/>
              </a:lnSpc>
            </a:pPr>
          </a:p>
          <a:p>
            <a:pPr algn="just" marL="0" indent="0" lvl="0">
              <a:lnSpc>
                <a:spcPts val="3432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855716" y="1785175"/>
            <a:ext cx="4584373" cy="1297564"/>
            <a:chOff x="0" y="0"/>
            <a:chExt cx="1207407" cy="3417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58857" y="1785175"/>
            <a:ext cx="4584373" cy="1297564"/>
            <a:chOff x="0" y="0"/>
            <a:chExt cx="1207407" cy="3417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851813" y="1922465"/>
            <a:ext cx="4584373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INTERNATIONAL USAGE &amp; CHARGES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58857" y="1980377"/>
            <a:ext cx="4687919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1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DAYTIME USAGE, CHARGES &amp; CHURN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01344" y="3611054"/>
            <a:ext cx="4583144" cy="5425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Plan: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42% 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Without Plan: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11%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359"/>
              </a:lnSpc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The international plan itself is a major churn driver — not usage volume.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Likely causes: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High costs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Billing confusion</a:t>
            </a:r>
          </a:p>
          <a:p>
            <a:pPr algn="just" marL="518069" indent="-259035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Poor value perception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601344" y="1785175"/>
            <a:ext cx="4584373" cy="1297564"/>
            <a:chOff x="0" y="0"/>
            <a:chExt cx="1207407" cy="341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91467" y="1922465"/>
            <a:ext cx="5002897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EVENING USAGE PATTERNS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51813" y="3611054"/>
            <a:ext cx="4584373" cy="479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 voicemail plan: </a:t>
            </a: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7.4%</a:t>
            </a: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algn="just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Without voicemail plan: </a:t>
            </a: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16.4% 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Active usage shows very low churn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b="true" sz="2499" spc="-172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499"/>
              </a:lnSpc>
            </a:pPr>
            <a:r>
              <a:rPr lang="en-US" sz="2499" spc="-172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Value-added services increase engagement and retention.</a:t>
            </a:r>
          </a:p>
          <a:p>
            <a:pPr algn="just">
              <a:lnSpc>
                <a:spcPts val="349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2158857" y="3601529"/>
            <a:ext cx="4687919" cy="4271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29377" indent="-264688" lvl="1">
              <a:lnSpc>
                <a:spcPts val="3432"/>
              </a:lnSpc>
              <a:buFont typeface="Arial"/>
              <a:buChar char="•"/>
            </a:pP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Churn is consistent across regions </a:t>
            </a:r>
            <a:r>
              <a:rPr lang="en-US" b="true" sz="245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(13–15%)</a:t>
            </a: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 marL="529377" indent="-264688" lvl="1">
              <a:lnSpc>
                <a:spcPts val="3432"/>
              </a:lnSpc>
              <a:buFont typeface="Arial"/>
              <a:buChar char="•"/>
            </a:pPr>
            <a:r>
              <a:rPr lang="en-US" b="true" sz="245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Area code 510</a:t>
            </a: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slightly underperforms</a:t>
            </a:r>
          </a:p>
          <a:p>
            <a:pPr algn="just">
              <a:lnSpc>
                <a:spcPts val="3432"/>
              </a:lnSpc>
            </a:pPr>
          </a:p>
          <a:p>
            <a:pPr algn="just">
              <a:lnSpc>
                <a:spcPts val="3432"/>
              </a:lnSpc>
            </a:pPr>
            <a:r>
              <a:rPr lang="en-US" sz="2451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</a:p>
          <a:p>
            <a:pPr algn="just">
              <a:lnSpc>
                <a:spcPts val="3432"/>
              </a:lnSpc>
            </a:pPr>
            <a:r>
              <a:rPr lang="en-US" sz="245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Geography is not a primary churn driver; behavior matters more.</a:t>
            </a:r>
          </a:p>
          <a:p>
            <a:pPr algn="just">
              <a:lnSpc>
                <a:spcPts val="3432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6855716" y="1785175"/>
            <a:ext cx="4584373" cy="1297564"/>
            <a:chOff x="0" y="0"/>
            <a:chExt cx="1207407" cy="34174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158857" y="1785175"/>
            <a:ext cx="4584373" cy="1297564"/>
            <a:chOff x="0" y="0"/>
            <a:chExt cx="1207407" cy="34174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07407" cy="341745"/>
            </a:xfrm>
            <a:custGeom>
              <a:avLst/>
              <a:gdLst/>
              <a:ahLst/>
              <a:cxnLst/>
              <a:rect r="r" b="b" t="t" l="l"/>
              <a:pathLst>
                <a:path h="341745" w="1207407">
                  <a:moveTo>
                    <a:pt x="0" y="0"/>
                  </a:moveTo>
                  <a:lnTo>
                    <a:pt x="1207407" y="0"/>
                  </a:lnTo>
                  <a:lnTo>
                    <a:pt x="1207407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207407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6851813" y="1922465"/>
            <a:ext cx="4584373" cy="1032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VOICE MAIL PLAN &amp; ENGAGEMENT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158857" y="1980377"/>
            <a:ext cx="4584373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1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AREA CODE ANALYSIS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235139"/>
            <a:ext cx="9041231" cy="6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1: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Low churn rate </a:t>
            </a: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(10%)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characterized by moderate usage and minimal customer service interactions.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2: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High churn rate </a:t>
            </a: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(17%)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characterized by high service usage, frequent customer service calls, and higher charges.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3: 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Moderate churn rate </a:t>
            </a: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(12%)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, with balanced usage patterns but occasional service issues. </a:t>
            </a:r>
          </a:p>
          <a:p>
            <a:pPr algn="just">
              <a:lnSpc>
                <a:spcPts val="3359"/>
              </a:lnSpc>
            </a:pP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b="true" sz="23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2 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represents the most at-risk group due to high service dissatisfaction and elevated charges. Targeted interventions like improved customer support and tailored pricing plans can reduce churn.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1785175"/>
            <a:ext cx="9041231" cy="1297564"/>
            <a:chOff x="0" y="0"/>
            <a:chExt cx="2381230" cy="34174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81230" cy="341745"/>
            </a:xfrm>
            <a:custGeom>
              <a:avLst/>
              <a:gdLst/>
              <a:ahLst/>
              <a:cxnLst/>
              <a:rect r="r" b="b" t="t" l="l"/>
              <a:pathLst>
                <a:path h="341745" w="2381230">
                  <a:moveTo>
                    <a:pt x="0" y="0"/>
                  </a:moveTo>
                  <a:lnTo>
                    <a:pt x="2381230" y="0"/>
                  </a:lnTo>
                  <a:lnTo>
                    <a:pt x="2381230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81230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2179640"/>
            <a:ext cx="9146170" cy="518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95"/>
              </a:lnSpc>
              <a:spcBef>
                <a:spcPct val="0"/>
              </a:spcBef>
            </a:pPr>
            <a:r>
              <a:rPr lang="en-US" b="true" sz="35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CLUSTER ANALYSIS OF CUSTOMERS.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0641595" y="1785175"/>
            <a:ext cx="6617705" cy="1297564"/>
            <a:chOff x="0" y="0"/>
            <a:chExt cx="1742935" cy="34174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42935" cy="341745"/>
            </a:xfrm>
            <a:custGeom>
              <a:avLst/>
              <a:gdLst/>
              <a:ahLst/>
              <a:cxnLst/>
              <a:rect r="r" b="b" t="t" l="l"/>
              <a:pathLst>
                <a:path h="341745" w="1742935">
                  <a:moveTo>
                    <a:pt x="0" y="0"/>
                  </a:moveTo>
                  <a:lnTo>
                    <a:pt x="1742935" y="0"/>
                  </a:lnTo>
                  <a:lnTo>
                    <a:pt x="1742935" y="341745"/>
                  </a:lnTo>
                  <a:lnTo>
                    <a:pt x="0" y="341745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742935" cy="3798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974557" y="1951421"/>
            <a:ext cx="5951781" cy="974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61"/>
              </a:lnSpc>
              <a:spcBef>
                <a:spcPct val="0"/>
              </a:spcBef>
            </a:pPr>
            <a:r>
              <a:rPr lang="en-US" b="true" sz="33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DAY, EVENING, AND NIGHT CALL CHARGES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41595" y="3235139"/>
            <a:ext cx="6617705" cy="626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Day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Churned Customers: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35.53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Non-Churned Customers: 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29.84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Higher day call charges are strongly correlated with customer churn.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Evening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Churned Customers: 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17.85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Non-Churned Customers: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16.88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Insight:</a:t>
            </a: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Slightly higher evening charges are observed in churned customers, though the impact is less pronounced. </a:t>
            </a:r>
          </a:p>
          <a:p>
            <a:pPr algn="just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Night Observation: 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Minimal differences in night call charges between churned and non-churned customers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93891" y="1353535"/>
            <a:ext cx="16098793" cy="1006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2"/>
              </a:lnSpc>
              <a:spcBef>
                <a:spcPct val="0"/>
              </a:spcBef>
            </a:pPr>
            <a:r>
              <a:rPr lang="en-US" sz="6685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CONSOLIDATED KEY INSIGHTS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01344" y="2552952"/>
            <a:ext cx="14483889" cy="354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Service experience is the strongest churn driver.</a:t>
            </a:r>
          </a:p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Pricing perception matters more than usage.</a:t>
            </a:r>
          </a:p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International plan customers are high-risk.</a:t>
            </a:r>
          </a:p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Heavy users churn when plans don’t fit their usage.</a:t>
            </a:r>
          </a:p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Value-added services reduce churn.</a:t>
            </a:r>
          </a:p>
          <a:p>
            <a:pPr algn="just" marL="604427" indent="-302214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Tenure alone does not protect against churn.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73987" y="6341373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IMPROVEMENTS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344" y="7108707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Flag customers at 3 service calls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 first-call resolution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Proactive outreach before frustration escalates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73987" y="1875985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PRICING &amp; PLAN OPTIMIZATION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1344" y="2557594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Flag customers at 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service calls.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Improve first-call resolution.</a:t>
            </a:r>
          </a:p>
          <a:p>
            <a:pPr algn="just">
              <a:lnSpc>
                <a:spcPts val="3919"/>
              </a:lnSpc>
            </a:pP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73987" y="4119440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PRICING &amp; PLAN OPTIMIZATION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344" y="4734374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Redesign international plans.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Smooth peak-hour pricing slabs.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Offer usage-based plans for heavy users.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2173987" y="6774362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PRODUCT &amp; ENGAGEMENT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1344" y="7389296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Promote voicemail adoption.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Encourage feature engagement.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Bundle value-added services with core plans.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73987" y="1967792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BUSINESS IMPACT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01344" y="2811326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Reducing churn by even 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1%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saves </a:t>
            </a:r>
            <a:r>
              <a:rPr lang="en-US" b="true" sz="279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42 customers</a:t>
            </a: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Retention is far cheaper than acquisition.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Data-driven targeting prevents revenue leakage.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73987" y="5808855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FINAL TAKEAWAY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01344" y="6653375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Customers don’t churn because they use more — they churn because they pay more and feel unheard.</a:t>
            </a:r>
          </a:p>
          <a:p>
            <a:pPr algn="just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Proactive service resolution, transparent pricing, and personalized plans are key to retention.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7733830" y="-1311062"/>
            <a:ext cx="10619419" cy="12160187"/>
            <a:chOff x="0" y="0"/>
            <a:chExt cx="2796884" cy="32026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0057444" y="-1059969"/>
            <a:ext cx="10619419" cy="12160187"/>
            <a:chOff x="0" y="0"/>
            <a:chExt cx="2796884" cy="320268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96884" cy="3202683"/>
            </a:xfrm>
            <a:custGeom>
              <a:avLst/>
              <a:gdLst/>
              <a:ahLst/>
              <a:cxnLst/>
              <a:rect r="r" b="b" t="t" l="l"/>
              <a:pathLst>
                <a:path h="3202683" w="2796884">
                  <a:moveTo>
                    <a:pt x="0" y="0"/>
                  </a:moveTo>
                  <a:lnTo>
                    <a:pt x="2796884" y="0"/>
                  </a:lnTo>
                  <a:lnTo>
                    <a:pt x="2796884" y="3202683"/>
                  </a:lnTo>
                  <a:lnTo>
                    <a:pt x="0" y="3202683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96884" cy="32407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028700" y="605478"/>
            <a:ext cx="1145287" cy="991243"/>
          </a:xfrm>
          <a:custGeom>
            <a:avLst/>
            <a:gdLst/>
            <a:ahLst/>
            <a:cxnLst/>
            <a:rect r="r" b="b" t="t" l="l"/>
            <a:pathLst>
              <a:path h="991243" w="1145287">
                <a:moveTo>
                  <a:pt x="0" y="0"/>
                </a:moveTo>
                <a:lnTo>
                  <a:pt x="1145287" y="0"/>
                </a:lnTo>
                <a:lnTo>
                  <a:pt x="1145287" y="991242"/>
                </a:lnTo>
                <a:lnTo>
                  <a:pt x="0" y="99124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606245"/>
            <a:ext cx="13911245" cy="1006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27"/>
              </a:lnSpc>
              <a:spcBef>
                <a:spcPct val="0"/>
              </a:spcBef>
            </a:pPr>
            <a:r>
              <a:rPr lang="en-US" sz="669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WHAT AIRTEL SHOULD DO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5958" y="2642015"/>
            <a:ext cx="13911245" cy="3469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0156" indent="-355078" lvl="1">
              <a:lnSpc>
                <a:spcPts val="4604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Trigger retention when customers reach </a:t>
            </a:r>
            <a:r>
              <a:rPr lang="en-US" b="true" sz="3289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 service calls</a:t>
            </a: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just" marL="710156" indent="-355078" lvl="1">
              <a:lnSpc>
                <a:spcPts val="4604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Redesign international plan pricing.</a:t>
            </a:r>
          </a:p>
          <a:p>
            <a:pPr algn="just" marL="710156" indent="-355078" lvl="1">
              <a:lnSpc>
                <a:spcPts val="4604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Offer daytime &amp; evening usage bundles.</a:t>
            </a:r>
          </a:p>
          <a:p>
            <a:pPr algn="just" marL="710156" indent="-355078" lvl="1">
              <a:lnSpc>
                <a:spcPts val="4604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Promote voice mail adoption.</a:t>
            </a:r>
          </a:p>
          <a:p>
            <a:pPr algn="just" marL="710156" indent="-355078" lvl="1">
              <a:lnSpc>
                <a:spcPts val="4604"/>
              </a:lnSpc>
              <a:buFont typeface="Arial"/>
              <a:buChar char="•"/>
            </a:pPr>
            <a:r>
              <a:rPr lang="en-US" sz="328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Use usage-based alerts to prevent bill shock.</a:t>
            </a:r>
          </a:p>
          <a:p>
            <a:pPr algn="just">
              <a:lnSpc>
                <a:spcPts val="4604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905958" y="7175636"/>
            <a:ext cx="14483889" cy="1957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Kaggle: Customer Churn Prediction Dataset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Telecom churn case studies</a:t>
            </a:r>
          </a:p>
          <a:p>
            <a:pPr algn="just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2173987" y="6939607"/>
            <a:ext cx="9587604" cy="576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63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ADDITIONAL RESOURCES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253830" y="5185050"/>
            <a:ext cx="445531" cy="445531"/>
          </a:xfrm>
          <a:custGeom>
            <a:avLst/>
            <a:gdLst/>
            <a:ahLst/>
            <a:cxnLst/>
            <a:rect r="r" b="b" t="t" l="l"/>
            <a:pathLst>
              <a:path h="445531" w="445531">
                <a:moveTo>
                  <a:pt x="0" y="0"/>
                </a:moveTo>
                <a:lnTo>
                  <a:pt x="445531" y="0"/>
                </a:lnTo>
                <a:lnTo>
                  <a:pt x="445531" y="445531"/>
                </a:lnTo>
                <a:lnTo>
                  <a:pt x="0" y="4455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978996" y="6085280"/>
            <a:ext cx="445531" cy="445531"/>
          </a:xfrm>
          <a:custGeom>
            <a:avLst/>
            <a:gdLst/>
            <a:ahLst/>
            <a:cxnLst/>
            <a:rect r="r" b="b" t="t" l="l"/>
            <a:pathLst>
              <a:path h="445531" w="445531">
                <a:moveTo>
                  <a:pt x="0" y="0"/>
                </a:moveTo>
                <a:lnTo>
                  <a:pt x="445531" y="0"/>
                </a:lnTo>
                <a:lnTo>
                  <a:pt x="445531" y="445531"/>
                </a:lnTo>
                <a:lnTo>
                  <a:pt x="0" y="4455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-3151062" y="1028700"/>
            <a:ext cx="4179762" cy="8229600"/>
            <a:chOff x="0" y="0"/>
            <a:chExt cx="1100843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0843" cy="2167467"/>
            </a:xfrm>
            <a:custGeom>
              <a:avLst/>
              <a:gdLst/>
              <a:ahLst/>
              <a:cxnLst/>
              <a:rect r="r" b="b" t="t" l="l"/>
              <a:pathLst>
                <a:path h="2167467" w="1100843">
                  <a:moveTo>
                    <a:pt x="0" y="0"/>
                  </a:moveTo>
                  <a:lnTo>
                    <a:pt x="1100843" y="0"/>
                  </a:lnTo>
                  <a:lnTo>
                    <a:pt x="110084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10084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1028700"/>
            <a:ext cx="4179762" cy="8229600"/>
            <a:chOff x="0" y="0"/>
            <a:chExt cx="1100843" cy="21674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0843" cy="2167467"/>
            </a:xfrm>
            <a:custGeom>
              <a:avLst/>
              <a:gdLst/>
              <a:ahLst/>
              <a:cxnLst/>
              <a:rect r="r" b="b" t="t" l="l"/>
              <a:pathLst>
                <a:path h="2167467" w="1100843">
                  <a:moveTo>
                    <a:pt x="0" y="0"/>
                  </a:moveTo>
                  <a:lnTo>
                    <a:pt x="1100843" y="0"/>
                  </a:lnTo>
                  <a:lnTo>
                    <a:pt x="110084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DC0E2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00843" cy="22055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1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3299971" y="2427751"/>
            <a:ext cx="11314870" cy="2717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245"/>
              </a:lnSpc>
              <a:spcBef>
                <a:spcPct val="0"/>
              </a:spcBef>
            </a:pPr>
            <a:r>
              <a:rPr lang="en-US" sz="18158" strike="noStrike" u="non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1720" y="5188500"/>
            <a:ext cx="2864418" cy="40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3"/>
              </a:lnSpc>
              <a:spcBef>
                <a:spcPct val="0"/>
              </a:spcBef>
            </a:pPr>
            <a:r>
              <a:rPr lang="en-US" sz="2416" strike="noStrike" u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+91 7452938822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06471" y="6088729"/>
            <a:ext cx="5951427" cy="400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3"/>
              </a:lnSpc>
              <a:spcBef>
                <a:spcPct val="0"/>
              </a:spcBef>
            </a:pPr>
            <a:r>
              <a:rPr lang="en-US" sz="2416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ANSHIKAGUPTA200205@GMAIL.COM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DAG-GP1gm8U</dc:identifier>
  <dcterms:modified xsi:type="dcterms:W3CDTF">2011-08-01T06:04:30Z</dcterms:modified>
  <cp:revision>1</cp:revision>
  <dc:title>Black and Red Simple Company Presentation</dc:title>
</cp:coreProperties>
</file>